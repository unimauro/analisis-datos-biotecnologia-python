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5156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ESCUELA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766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ADN, ARN y Proteínas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2788920"/>
            <a:ext cx="1828800" cy="45720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AF3F1"/>
                </a:solidFill>
                <a:latin typeface="Calibri"/>
              </a:rPr>
              <a:t>Unidad 2 · Representación de información biológica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8D6D2"/>
                </a:solidFill>
                <a:latin typeface="Calibri"/>
              </a:rPr>
              <a:t>Módulo: Análisis de Datos en Biotecnología Aplicada con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577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Docente: Carlos Cárdenas Fernández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HOJA DE RUTA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Lo que veremos en esta clase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4937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El dogma central. </a:t>
            </a:r>
            <a:r>
              <a:rPr sz="1500" b="0">
                <a:solidFill>
                  <a:srgbClr val="0F2F33"/>
                </a:solidFill>
                <a:latin typeface="Calibri"/>
              </a:rPr>
              <a:t>ADN → ARN → Proteína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ADN como datos. </a:t>
            </a:r>
            <a:r>
              <a:rPr sz="1500" b="0">
                <a:solidFill>
                  <a:srgbClr val="0F2F33"/>
                </a:solidFill>
                <a:latin typeface="Calibri"/>
              </a:rPr>
              <a:t>Representarlo y medirlo en Python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Transcripción y traducción </a:t>
            </a:r>
            <a:r>
              <a:rPr sz="1500" b="0">
                <a:solidFill>
                  <a:srgbClr val="0F2F33"/>
                </a:solidFill>
                <a:latin typeface="Calibri"/>
              </a:rPr>
              <a:t>paso a paso, en código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El código genético. </a:t>
            </a:r>
            <a:r>
              <a:rPr sz="1500" b="0">
                <a:solidFill>
                  <a:srgbClr val="0F2F33"/>
                </a:solidFill>
                <a:latin typeface="Calibri"/>
              </a:rPr>
              <a:t>Codones y aminoácidos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Biopython. </a:t>
            </a:r>
            <a:r>
              <a:rPr sz="1500" b="0">
                <a:solidFill>
                  <a:srgbClr val="0F2F33"/>
                </a:solidFill>
                <a:latin typeface="Calibri"/>
              </a:rPr>
              <a:t>La librería estándar (Seq, FASTA)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Caso en salud. </a:t>
            </a:r>
            <a:r>
              <a:rPr sz="1500" b="0">
                <a:solidFill>
                  <a:srgbClr val="0F2F33"/>
                </a:solidFill>
                <a:latin typeface="Calibri"/>
              </a:rPr>
              <a:t>Detectar una mutación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Práctica guiada </a:t>
            </a:r>
            <a:r>
              <a:rPr sz="1500" b="0">
                <a:solidFill>
                  <a:srgbClr val="0F2F33"/>
                </a:solidFill>
                <a:latin typeface="Calibri"/>
              </a:rPr>
              <a:t>en Google Colab</a:t>
            </a:r>
          </a:p>
        </p:txBody>
      </p:sp>
      <p:pic>
        <p:nvPicPr>
          <p:cNvPr id="10" name="Picture 9" descr="fig_hel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230037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7498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CBE5"/>
                </a:solidFill>
                <a:latin typeface="Calibri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¿Por qué Python en biotecnología?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3246120"/>
            <a:ext cx="1828800" cy="45720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La biología hoy es, también,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1206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Volumen. </a:t>
            </a:r>
            <a:r>
              <a:rPr sz="1500" b="0">
                <a:solidFill>
                  <a:srgbClr val="0F2F33"/>
                </a:solidFill>
                <a:latin typeface="Calibri"/>
              </a:rPr>
              <a:t>Un solo genoma humano ≈ 3 200 millones de bases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Texto = datos. </a:t>
            </a:r>
            <a:r>
              <a:rPr sz="1500" b="0">
                <a:solidFill>
                  <a:srgbClr val="0F2F33"/>
                </a:solidFill>
                <a:latin typeface="Calibri"/>
              </a:rPr>
              <a:t>ADN/ARN se modelan como secuencias de letras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Reproducibilidad. </a:t>
            </a:r>
            <a:r>
              <a:rPr sz="1500" b="0">
                <a:solidFill>
                  <a:srgbClr val="0F2F33"/>
                </a:solidFill>
                <a:latin typeface="Calibri"/>
              </a:rPr>
              <a:t>Un script repite el análisis sin error humano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Ecosistema. </a:t>
            </a:r>
            <a:r>
              <a:rPr sz="1500" b="0">
                <a:solidFill>
                  <a:srgbClr val="0F2F33"/>
                </a:solidFill>
                <a:latin typeface="Calibri"/>
              </a:rPr>
              <a:t>Biopython, pandas, NumPy, Matplotlib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Gratis y abierto. </a:t>
            </a:r>
            <a:r>
              <a:rPr sz="1500" b="0">
                <a:solidFill>
                  <a:srgbClr val="0F2F33"/>
                </a:solidFill>
                <a:latin typeface="Calibri"/>
              </a:rPr>
              <a:t>Colab corre en el navegador, sin instalar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600200"/>
            <a:ext cx="2743200" cy="2788920"/>
          </a:xfrm>
          <a:prstGeom prst="round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2377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58158"/>
                </a:solidFill>
                <a:latin typeface="Calibri"/>
              </a:rPr>
              <a:t>Dato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08262E"/>
                </a:solidFill>
                <a:latin typeface="Calibri"/>
              </a:rPr>
              <a:t>3 200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2F33"/>
                </a:solidFill>
                <a:latin typeface="Calibri"/>
              </a:rPr>
              <a:t>millones de pares de bases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2F33"/>
                </a:solidFill>
                <a:latin typeface="Calibri"/>
              </a:rPr>
              <a:t>en el genoma humano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6E"/>
                </a:solidFill>
                <a:latin typeface="Calibri"/>
              </a:rPr>
              <a:t>≈ 700 MB de texto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El Dogma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3</a:t>
            </a:r>
          </a:p>
        </p:txBody>
      </p:sp>
      <p:pic>
        <p:nvPicPr>
          <p:cNvPr id="9" name="Picture 8" descr="fig_do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863840" cy="23974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88620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CBE5"/>
                </a:solidFill>
                <a:latin typeface="Calibri"/>
              </a:rPr>
              <a:t>●  </a:t>
            </a:r>
            <a:r>
              <a:rPr sz="1400" b="1">
                <a:solidFill>
                  <a:srgbClr val="08262E"/>
                </a:solidFill>
                <a:latin typeface="Calibri"/>
              </a:rPr>
              <a:t>Transcripción: </a:t>
            </a:r>
            <a:r>
              <a:rPr sz="1400" b="0">
                <a:solidFill>
                  <a:srgbClr val="0F2F33"/>
                </a:solidFill>
                <a:latin typeface="Calibri"/>
              </a:rPr>
              <a:t>el ADN se copia a ARN mensajero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CBE5"/>
                </a:solidFill>
                <a:latin typeface="Calibri"/>
              </a:rPr>
              <a:t>●  </a:t>
            </a:r>
            <a:r>
              <a:rPr sz="1400" b="1">
                <a:solidFill>
                  <a:srgbClr val="08262E"/>
                </a:solidFill>
                <a:latin typeface="Calibri"/>
              </a:rPr>
              <a:t>Traducción: </a:t>
            </a:r>
            <a:r>
              <a:rPr sz="1400" b="0">
                <a:solidFill>
                  <a:srgbClr val="0F2F33"/>
                </a:solidFill>
                <a:latin typeface="Calibri"/>
              </a:rPr>
              <a:t>el ARN se lee en codones y se arma la proteína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MANOS A LA OBRA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El ADN como un string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4160520" cy="2468880"/>
          </a:xfrm>
          <a:prstGeom prst="roundRect">
            <a:avLst/>
          </a:prstGeom>
          <a:solidFill>
            <a:srgbClr val="06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682495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682495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1682495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1609344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B6E"/>
                </a:solidFill>
                <a:latin typeface="Consolas"/>
              </a:rPr>
              <a:t>adn.py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38528"/>
            <a:ext cx="379475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6E8B8E"/>
                </a:solidFill>
                <a:latin typeface="Consolas"/>
              </a:rPr>
              <a:t># Una secuencia es solo texto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adn = "ATGCTAGCTAGCTAGC"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len(adn)        # longitud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adn[0]          # primera base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adn.count("A")  # cuántas A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36D3A6"/>
                </a:solidFill>
                <a:latin typeface="Consolas"/>
              </a:rPr>
              <a:t>&gt;&gt;&gt; 16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36D3A6"/>
                </a:solidFill>
                <a:latin typeface="Consolas"/>
              </a:rPr>
              <a:t>&gt;&gt;&gt; 'A'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36D3A6"/>
                </a:solidFill>
                <a:latin typeface="Consolas"/>
              </a:rPr>
              <a:t>&gt;&gt;&gt; 4</a:t>
            </a:r>
          </a:p>
        </p:txBody>
      </p:sp>
      <p:pic>
        <p:nvPicPr>
          <p:cNvPr id="15" name="Picture 14" descr="fig_b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74519"/>
            <a:ext cx="3840480" cy="11029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7760" y="3886200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6E"/>
                </a:solidFill>
                <a:latin typeface="Calibri"/>
              </a:rPr>
              <a:t>Cada letra es una base nitrogenada. La cadena complementaria empareja A–T y G–C.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MEDIR LA SECUENCIA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Composición y contenido GC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4297680" cy="2697480"/>
          </a:xfrm>
          <a:prstGeom prst="roundRect">
            <a:avLst/>
          </a:prstGeom>
          <a:solidFill>
            <a:srgbClr val="06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682495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682495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1682495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1609344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B6E"/>
                </a:solidFill>
                <a:latin typeface="Consolas"/>
              </a:rPr>
              <a:t>gc.py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38528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def contenido_gc(seq):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    g = seq.count("G")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    c = seq.count("C")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    return (g + c) / len(seq) * 100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contenido_gc("ATGCGCGC")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36D3A6"/>
                </a:solidFill>
                <a:latin typeface="Consolas"/>
              </a:rPr>
              <a:t>&gt;&gt;&gt; 75.0</a:t>
            </a:r>
          </a:p>
        </p:txBody>
      </p:sp>
      <p:pic>
        <p:nvPicPr>
          <p:cNvPr id="15" name="Picture 14" descr="fig_g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3657600" cy="22013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F2F33"/>
                </a:solidFill>
                <a:latin typeface="Calibri"/>
              </a:rPr>
              <a:t>El %GC indica estabilidad térmica del ADN y ayuda a comparar genes y organismos.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OPERACIÓN ESENCIAL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Complemento y cadena reversa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4846320" cy="2926080"/>
          </a:xfrm>
          <a:prstGeom prst="roundRect">
            <a:avLst/>
          </a:prstGeom>
          <a:solidFill>
            <a:srgbClr val="06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682495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682495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1682495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160934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B6E"/>
                </a:solidFill>
                <a:latin typeface="Consolas"/>
              </a:rPr>
              <a:t>complemento.py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38528"/>
            <a:ext cx="448055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comp = {"A":"T", "T":"A",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        "G":"C", "C":"G"}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def rev_comp(seq):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    return "".join(comp[b]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           for b in reversed(seq))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rev_comp("ATGC")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36D3A6"/>
                </a:solidFill>
                <a:latin typeface="Consolas"/>
              </a:rPr>
              <a:t>&gt;&gt;&gt; 'GCAT'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691640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24CBE5"/>
                </a:solidFill>
                <a:latin typeface="Calibri"/>
              </a:rPr>
              <a:t>●  </a:t>
            </a:r>
            <a:r>
              <a:rPr sz="1400" b="0">
                <a:solidFill>
                  <a:srgbClr val="0F2F33"/>
                </a:solidFill>
                <a:latin typeface="Calibri"/>
              </a:rPr>
              <a:t>A ↔ 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24CBE5"/>
                </a:solidFill>
                <a:latin typeface="Calibri"/>
              </a:rPr>
              <a:t>●  </a:t>
            </a:r>
            <a:r>
              <a:rPr sz="1400" b="0">
                <a:solidFill>
                  <a:srgbClr val="0F2F33"/>
                </a:solidFill>
                <a:latin typeface="Calibri"/>
              </a:rPr>
              <a:t>G ↔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24CBE5"/>
                </a:solidFill>
                <a:latin typeface="Calibri"/>
              </a:rPr>
              <a:t>●  </a:t>
            </a:r>
            <a:r>
              <a:rPr sz="1400" b="1">
                <a:solidFill>
                  <a:srgbClr val="08262E"/>
                </a:solidFill>
                <a:latin typeface="Calibri"/>
              </a:rPr>
              <a:t>reversa-complementaria: </a:t>
            </a:r>
            <a:r>
              <a:rPr sz="1400" b="0">
                <a:solidFill>
                  <a:srgbClr val="0F2F33"/>
                </a:solidFill>
                <a:latin typeface="Calibri"/>
              </a:rPr>
              <a:t>leemos la otra hebra 5'→3'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24CBE5"/>
                </a:solidFill>
                <a:latin typeface="Calibri"/>
              </a:rPr>
              <a:t>●  </a:t>
            </a:r>
            <a:r>
              <a:rPr sz="1400" b="0">
                <a:solidFill>
                  <a:srgbClr val="0F2F33"/>
                </a:solidFill>
                <a:latin typeface="Calibri"/>
              </a:rPr>
              <a:t>Se usa para encontrar genes en ambas hebras del ADN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PASO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Transcripción: ADN → 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4846320" cy="2286000"/>
          </a:xfrm>
          <a:prstGeom prst="roundRect">
            <a:avLst/>
          </a:prstGeom>
          <a:solidFill>
            <a:srgbClr val="06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72821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172821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165506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B6E"/>
                </a:solidFill>
                <a:latin typeface="Consolas"/>
              </a:rPr>
              <a:t>transcripcion.py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84248"/>
            <a:ext cx="44805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6E8B8E"/>
                </a:solidFill>
                <a:latin typeface="Consolas"/>
              </a:rPr>
              <a:t># En el ARN, la T se vuelve U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def transcribir(adn):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    return adn.replace("T", "U")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E6F4F1"/>
                </a:solidFill>
                <a:latin typeface="Consolas"/>
              </a:rPr>
              <a:t>transcribir("ATGCTA")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50">
                <a:solidFill>
                  <a:srgbClr val="36D3A6"/>
                </a:solidFill>
                <a:latin typeface="Consolas"/>
              </a:rPr>
              <a:t>&gt;&gt;&gt; 'AUGCUA'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737360"/>
            <a:ext cx="3017520" cy="2194560"/>
          </a:xfrm>
          <a:prstGeom prst="round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65960"/>
            <a:ext cx="2651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58158"/>
                </a:solidFill>
                <a:latin typeface="Calibri"/>
              </a:rPr>
              <a:t>Regla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08262E"/>
                </a:solidFill>
                <a:latin typeface="Calibri"/>
              </a:rPr>
              <a:t>T  →  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F2F33"/>
                </a:solidFill>
                <a:latin typeface="Calibri"/>
              </a:rPr>
              <a:t>Timina pasa a Uracilo.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F2F33"/>
                </a:solidFill>
                <a:latin typeface="Calibri"/>
              </a:rPr>
              <a:t>El resto de bases no cambia.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B6E"/>
                </a:solidFill>
                <a:latin typeface="Calibri"/>
              </a:rPr>
              <a:t>El ARN mensajero es la copia portátil del gen que sale del núcleo hacia el ribosoma.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LA CLAVE DE LECTURA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El código genético: codones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8</a:t>
            </a:r>
          </a:p>
        </p:txBody>
      </p:sp>
      <p:pic>
        <p:nvPicPr>
          <p:cNvPr id="9" name="Picture 8" descr="fig_cod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863840" cy="219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84048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CBE5"/>
                </a:solidFill>
                <a:latin typeface="Calibri"/>
              </a:rPr>
              <a:t>●  </a:t>
            </a:r>
            <a:r>
              <a:rPr sz="1400" b="1">
                <a:solidFill>
                  <a:srgbClr val="08262E"/>
                </a:solidFill>
                <a:latin typeface="Calibri"/>
              </a:rPr>
              <a:t>64 codones </a:t>
            </a:r>
            <a:r>
              <a:rPr sz="1400" b="0">
                <a:solidFill>
                  <a:srgbClr val="0F2F33"/>
                </a:solidFill>
                <a:latin typeface="Calibri"/>
              </a:rPr>
              <a:t>(4³) codifican 20 aminoácidos + señales de inicio/STOP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CBE5"/>
                </a:solidFill>
                <a:latin typeface="Calibri"/>
              </a:rPr>
              <a:t>●  </a:t>
            </a:r>
            <a:r>
              <a:rPr sz="1400" b="1">
                <a:solidFill>
                  <a:srgbClr val="08262E"/>
                </a:solidFill>
                <a:latin typeface="Calibri"/>
              </a:rPr>
              <a:t>AUG </a:t>
            </a:r>
            <a:r>
              <a:rPr sz="1400" b="0">
                <a:solidFill>
                  <a:srgbClr val="0F2F33"/>
                </a:solidFill>
                <a:latin typeface="Calibri"/>
              </a:rPr>
              <a:t>inicia la proteína;  UAA / UAG / UGA la terminan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PASO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Traducción: ARN → Proteína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029200" cy="3017520"/>
          </a:xfrm>
          <a:prstGeom prst="roundRect">
            <a:avLst/>
          </a:prstGeom>
          <a:solidFill>
            <a:srgbClr val="06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682495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682495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1682495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1609344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B6E"/>
                </a:solidFill>
                <a:latin typeface="Consolas"/>
              </a:rPr>
              <a:t>traduccion.py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38528"/>
            <a:ext cx="46634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codigo = {"AUG":"M", "UUU":"F",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          "GGC":"G", "UAA":"*"}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def traducir(arn):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    prot = ""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    for i in range(0, len(arn)-2, 3):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        prot += codigo.get(arn[i:i+3], "?")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    return prot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36D3A6"/>
                </a:solidFill>
                <a:latin typeface="Consolas"/>
              </a:rPr>
              <a:t>traducir("AUGUUUGGC")  &gt;&gt;&gt; 'MFG'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691640"/>
            <a:ext cx="29260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4CBE5"/>
                </a:solidFill>
                <a:latin typeface="Calibri"/>
              </a:rPr>
              <a:t>●  </a:t>
            </a:r>
            <a:r>
              <a:rPr sz="1350" b="1">
                <a:solidFill>
                  <a:srgbClr val="08262E"/>
                </a:solidFill>
                <a:latin typeface="Calibri"/>
              </a:rPr>
              <a:t>Leemos de 3 en 3 </a:t>
            </a:r>
            <a:r>
              <a:rPr sz="1350" b="0">
                <a:solidFill>
                  <a:srgbClr val="0F2F33"/>
                </a:solidFill>
                <a:latin typeface="Calibri"/>
              </a:rPr>
              <a:t>(marco de lectura)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4CBE5"/>
                </a:solidFill>
                <a:latin typeface="Calibri"/>
              </a:rPr>
              <a:t>●  </a:t>
            </a:r>
            <a:r>
              <a:rPr sz="1350" b="0">
                <a:solidFill>
                  <a:srgbClr val="0F2F33"/>
                </a:solidFill>
                <a:latin typeface="Calibri"/>
              </a:rPr>
              <a:t>Cada codón → 1 letra de aminoácido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4CBE5"/>
                </a:solidFill>
                <a:latin typeface="Calibri"/>
              </a:rPr>
              <a:t>●  </a:t>
            </a:r>
            <a:r>
              <a:rPr sz="1350" b="1">
                <a:solidFill>
                  <a:srgbClr val="08262E"/>
                </a:solidFill>
                <a:latin typeface="Calibri"/>
              </a:rPr>
              <a:t>* </a:t>
            </a:r>
            <a:r>
              <a:rPr sz="1350" b="0">
                <a:solidFill>
                  <a:srgbClr val="0F2F33"/>
                </a:solidFill>
                <a:latin typeface="Calibri"/>
              </a:rPr>
              <a:t>marca el fin de la proteína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4CBE5"/>
                </a:solidFill>
                <a:latin typeface="Calibri"/>
              </a:rPr>
              <a:t>●  </a:t>
            </a:r>
            <a:r>
              <a:rPr sz="1350" b="0">
                <a:solidFill>
                  <a:srgbClr val="0F2F33"/>
                </a:solidFill>
                <a:latin typeface="Calibri"/>
              </a:rPr>
              <a:t>Biopython ya trae la tabla completa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HERRAMIENTA PROFESIONAL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Biopython: no reinventes la rueda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212080" cy="3063240"/>
          </a:xfrm>
          <a:prstGeom prst="roundRect">
            <a:avLst/>
          </a:prstGeom>
          <a:solidFill>
            <a:srgbClr val="06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682495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682495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1682495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1609344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B6E"/>
                </a:solidFill>
                <a:latin typeface="Consolas"/>
              </a:rPr>
              <a:t>biopython.py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38528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from Bio.Seq import Seq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gen = Seq("ATGCTAGCTAGCTAA")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gen.complement()       # complementaria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gen.reverse_complement()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gen.transcribe()       # ADN -&gt; ARN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>gen.translate()        # -&gt; proteína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E6F4F1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>
                <a:solidFill>
                  <a:srgbClr val="36D3A6"/>
                </a:solidFill>
                <a:latin typeface="Consolas"/>
              </a:rPr>
              <a:t>&gt;&gt;&gt; Seq('MLAS*')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691640"/>
            <a:ext cx="2834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4CBE5"/>
                </a:solidFill>
                <a:latin typeface="Calibri"/>
              </a:rPr>
              <a:t>●  </a:t>
            </a:r>
            <a:r>
              <a:rPr sz="1300" b="1">
                <a:solidFill>
                  <a:srgbClr val="08262E"/>
                </a:solidFill>
                <a:latin typeface="Calibri"/>
              </a:rPr>
              <a:t>Seq </a:t>
            </a:r>
            <a:r>
              <a:rPr sz="1300" b="0">
                <a:solidFill>
                  <a:srgbClr val="0F2F33"/>
                </a:solidFill>
                <a:latin typeface="Calibri"/>
              </a:rPr>
              <a:t>= secuencia con superpoderes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4CBE5"/>
                </a:solidFill>
                <a:latin typeface="Calibri"/>
              </a:rPr>
              <a:t>●  </a:t>
            </a:r>
            <a:r>
              <a:rPr sz="1300" b="1">
                <a:solidFill>
                  <a:srgbClr val="08262E"/>
                </a:solidFill>
                <a:latin typeface="Calibri"/>
              </a:rPr>
              <a:t>SeqIO </a:t>
            </a:r>
            <a:r>
              <a:rPr sz="1300" b="0">
                <a:solidFill>
                  <a:srgbClr val="0F2F33"/>
                </a:solidFill>
                <a:latin typeface="Calibri"/>
              </a:rPr>
              <a:t>lee/escribe FASTA, GenBank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4CBE5"/>
                </a:solidFill>
                <a:latin typeface="Calibri"/>
              </a:rPr>
              <a:t>●  </a:t>
            </a:r>
            <a:r>
              <a:rPr sz="1300" b="1">
                <a:solidFill>
                  <a:srgbClr val="08262E"/>
                </a:solidFill>
                <a:latin typeface="Calibri"/>
              </a:rPr>
              <a:t>Tablas de codones </a:t>
            </a:r>
            <a:r>
              <a:rPr sz="1300" b="0">
                <a:solidFill>
                  <a:srgbClr val="0F2F33"/>
                </a:solidFill>
                <a:latin typeface="Calibri"/>
              </a:rPr>
              <a:t>estándar incluidas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4CBE5"/>
                </a:solidFill>
                <a:latin typeface="Calibri"/>
              </a:rPr>
              <a:t>●  </a:t>
            </a:r>
            <a:r>
              <a:rPr sz="1300" b="0">
                <a:solidFill>
                  <a:srgbClr val="0F2F33"/>
                </a:solidFill>
                <a:latin typeface="Calibri"/>
              </a:rPr>
              <a:t>pip install biopython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APLICACIÓN EN SALUD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Detectar una mutación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11</a:t>
            </a:r>
          </a:p>
        </p:txBody>
      </p:sp>
      <p:pic>
        <p:nvPicPr>
          <p:cNvPr id="9" name="Picture 8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8046720" cy="20289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3017520"/>
            <a:ext cx="7498079" cy="1417320"/>
          </a:xfrm>
          <a:prstGeom prst="roundRect">
            <a:avLst/>
          </a:prstGeom>
          <a:solidFill>
            <a:srgbClr val="06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314553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0432" y="314553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53312" y="314553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3072384"/>
            <a:ext cx="6583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B6E"/>
                </a:solidFill>
                <a:latin typeface="Consolas"/>
              </a:rPr>
              <a:t>mutacion.py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401568"/>
            <a:ext cx="71323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50">
                <a:solidFill>
                  <a:srgbClr val="E6F4F1"/>
                </a:solidFill>
                <a:latin typeface="Consolas"/>
              </a:rPr>
              <a:t>ref  = Seq("ATGCGT");  muestra = Seq("ATGCAT")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50">
                <a:solidFill>
                  <a:srgbClr val="E6F4F1"/>
                </a:solidFill>
                <a:latin typeface="Consolas"/>
              </a:rPr>
              <a:t>dif = [i for i in range(len(ref)) if ref[i] != muestra[i]]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150">
                <a:solidFill>
                  <a:srgbClr val="36D3A6"/>
                </a:solidFill>
                <a:latin typeface="Consolas"/>
              </a:rPr>
              <a:t>print("Mutación en posición:", dif)   &gt;&gt;&gt; Mutación en posición: [4]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EVITA TROPIEZOS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Buenas prácticas y errores comunes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931920" cy="2926080"/>
          </a:xfrm>
          <a:prstGeom prst="roundRect">
            <a:avLst/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58158"/>
                </a:solidFill>
                <a:latin typeface="Calibri"/>
              </a:rPr>
              <a:t>✓  Hazlo así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3566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4CBE5"/>
                </a:solidFill>
                <a:latin typeface="Calibri"/>
              </a:rPr>
              <a:t>●  </a:t>
            </a:r>
            <a:r>
              <a:rPr sz="1250" b="0">
                <a:solidFill>
                  <a:srgbClr val="0F2F33"/>
                </a:solidFill>
                <a:latin typeface="Calibri"/>
              </a:rPr>
              <a:t>Mayúsculas: ATGC, no atgc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4CBE5"/>
                </a:solidFill>
                <a:latin typeface="Calibri"/>
              </a:rPr>
              <a:t>●  </a:t>
            </a:r>
            <a:r>
              <a:rPr sz="1250" b="0">
                <a:solidFill>
                  <a:srgbClr val="0F2F33"/>
                </a:solidFill>
                <a:latin typeface="Calibri"/>
              </a:rPr>
              <a:t>Valida que solo haya A/C/G/T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4CBE5"/>
                </a:solidFill>
                <a:latin typeface="Calibri"/>
              </a:rPr>
              <a:t>●  </a:t>
            </a:r>
            <a:r>
              <a:rPr sz="1250" b="0">
                <a:solidFill>
                  <a:srgbClr val="0F2F33"/>
                </a:solidFill>
                <a:latin typeface="Calibri"/>
              </a:rPr>
              <a:t>Usa Biopython para producción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4CBE5"/>
                </a:solidFill>
                <a:latin typeface="Calibri"/>
              </a:rPr>
              <a:t>●  </a:t>
            </a:r>
            <a:r>
              <a:rPr sz="1250" b="0">
                <a:solidFill>
                  <a:srgbClr val="0F2F33"/>
                </a:solidFill>
                <a:latin typeface="Calibri"/>
              </a:rPr>
              <a:t>Documenta y comenta el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554480"/>
            <a:ext cx="3931920" cy="292608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B23B3B"/>
                </a:solidFill>
                <a:latin typeface="Calibri"/>
              </a:rPr>
              <a:t>✗  Cuidado 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94560"/>
            <a:ext cx="3566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4CBE5"/>
                </a:solidFill>
                <a:latin typeface="Calibri"/>
              </a:rPr>
              <a:t>●  </a:t>
            </a:r>
            <a:r>
              <a:rPr sz="1250" b="0">
                <a:solidFill>
                  <a:srgbClr val="0F2F33"/>
                </a:solidFill>
                <a:latin typeface="Calibri"/>
              </a:rPr>
              <a:t>Olvidar el marco de lectura (de 3 en 3)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4CBE5"/>
                </a:solidFill>
                <a:latin typeface="Calibri"/>
              </a:rPr>
              <a:t>●  </a:t>
            </a:r>
            <a:r>
              <a:rPr sz="1250" b="0">
                <a:solidFill>
                  <a:srgbClr val="0F2F33"/>
                </a:solidFill>
                <a:latin typeface="Calibri"/>
              </a:rPr>
              <a:t>Confundir T (ADN) con U (ARN)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4CBE5"/>
                </a:solidFill>
                <a:latin typeface="Calibri"/>
              </a:rPr>
              <a:t>●  </a:t>
            </a:r>
            <a:r>
              <a:rPr sz="1250" b="0">
                <a:solidFill>
                  <a:srgbClr val="0F2F33"/>
                </a:solidFill>
                <a:latin typeface="Calibri"/>
              </a:rPr>
              <a:t>Secuencias de largo no múltiplo de 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4CBE5"/>
                </a:solidFill>
                <a:latin typeface="Calibri"/>
              </a:rPr>
              <a:t>●  </a:t>
            </a:r>
            <a:r>
              <a:rPr sz="1250" b="0">
                <a:solidFill>
                  <a:srgbClr val="0F2F33"/>
                </a:solidFill>
                <a:latin typeface="Calibri"/>
              </a:rPr>
              <a:t>Asumir una sola hebra del ADN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737360"/>
            <a:ext cx="74980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24CBE5"/>
                </a:solidFill>
                <a:latin typeface="Calibri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Práctica guiada en Google Colab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AF3F1"/>
                </a:solidFill>
                <a:latin typeface="Calibri"/>
              </a:rPr>
              <a:t>Abre el notebook del repositorio y ejecútalo paso a paso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3383280"/>
            <a:ext cx="1828800" cy="45720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TU TURNO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Reto de la clase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795527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Reto 1. </a:t>
            </a:r>
            <a:r>
              <a:rPr sz="1500" b="0">
                <a:solidFill>
                  <a:srgbClr val="0F2F33"/>
                </a:solidFill>
                <a:latin typeface="Calibri"/>
              </a:rPr>
              <a:t>Calcula el %GC de una secuencia que tú elijas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Reto 2. </a:t>
            </a:r>
            <a:r>
              <a:rPr sz="1500" b="0">
                <a:solidFill>
                  <a:srgbClr val="0F2F33"/>
                </a:solidFill>
                <a:latin typeface="Calibri"/>
              </a:rPr>
              <a:t>Escribe rev_comp() y pruébalo con "AATTCCGG"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Reto 3. </a:t>
            </a:r>
            <a:r>
              <a:rPr sz="1500" b="0">
                <a:solidFill>
                  <a:srgbClr val="0F2F33"/>
                </a:solidFill>
                <a:latin typeface="Calibri"/>
              </a:rPr>
              <a:t>Transcribe y traduce un gen hasta el primer STOP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Reto 4. </a:t>
            </a:r>
            <a:r>
              <a:rPr sz="1500" b="0">
                <a:solidFill>
                  <a:srgbClr val="0F2F33"/>
                </a:solidFill>
                <a:latin typeface="Calibri"/>
              </a:rPr>
              <a:t>Lee un archivo FASTA con Biopython e imprime su longitud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4CBE5"/>
                </a:solidFill>
                <a:latin typeface="Calibri"/>
              </a:rPr>
              <a:t>●  </a:t>
            </a:r>
            <a:r>
              <a:rPr sz="1500" b="1">
                <a:solidFill>
                  <a:srgbClr val="08262E"/>
                </a:solidFill>
                <a:latin typeface="Calibri"/>
              </a:rPr>
              <a:t>Reto 5 (bonus). </a:t>
            </a:r>
            <a:r>
              <a:rPr sz="1500" b="0">
                <a:solidFill>
                  <a:srgbClr val="0F2F33"/>
                </a:solidFill>
                <a:latin typeface="Calibri"/>
              </a:rPr>
              <a:t>Compara dos secuencias y reporta las mutaciones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83380"/>
            <a:ext cx="8046720" cy="457200"/>
          </a:xfrm>
          <a:prstGeom prst="round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47388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8262E"/>
                </a:solidFill>
                <a:latin typeface="Calibri"/>
              </a:rPr>
              <a:t>Entrega: sube tu notebook .ipynb resuelto al classroom.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8158"/>
                </a:solidFill>
                <a:latin typeface="Calibri"/>
              </a:rPr>
              <a:t>PARA SEGUIR APRENDIENDO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8262E"/>
                </a:solidFill>
                <a:latin typeface="Calibri"/>
              </a:rPr>
              <a:t>Recursos y repositorio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43584"/>
            <a:ext cx="1280160" cy="41148"/>
          </a:xfrm>
          <a:prstGeom prst="rect">
            <a:avLst/>
          </a:prstGeom>
          <a:solidFill>
            <a:srgbClr val="24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6E"/>
                </a:solidFill>
                <a:latin typeface="Calibri"/>
              </a:rPr>
              <a:t>Escuela Global  ·  Análisis de Datos en Biotecnología con Python  ·  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94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58158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7955279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24CBE5"/>
                </a:solidFill>
                <a:latin typeface="Calibri"/>
              </a:rPr>
              <a:t>●  </a:t>
            </a:r>
            <a:r>
              <a:rPr sz="1450" b="1">
                <a:solidFill>
                  <a:srgbClr val="08262E"/>
                </a:solidFill>
                <a:latin typeface="Calibri"/>
              </a:rPr>
              <a:t>Repositorio de la clase </a:t>
            </a:r>
            <a:r>
              <a:rPr sz="1450" b="0">
                <a:solidFill>
                  <a:srgbClr val="0F2F33"/>
                </a:solidFill>
                <a:latin typeface="Calibri"/>
              </a:rPr>
              <a:t>(slides + notebook + datos)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24CBE5"/>
                </a:solidFill>
                <a:latin typeface="Calibri"/>
              </a:rPr>
              <a:t>●  </a:t>
            </a:r>
            <a:r>
              <a:rPr sz="1450" b="1">
                <a:solidFill>
                  <a:srgbClr val="08262E"/>
                </a:solidFill>
                <a:latin typeface="Calibri"/>
              </a:rPr>
              <a:t>Biopython </a:t>
            </a:r>
            <a:r>
              <a:rPr sz="1450" b="0">
                <a:solidFill>
                  <a:srgbClr val="0F2F33"/>
                </a:solidFill>
                <a:latin typeface="Calibri"/>
              </a:rPr>
              <a:t>— biopython.org / Tutorial &amp; Cookbook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24CBE5"/>
                </a:solidFill>
                <a:latin typeface="Calibri"/>
              </a:rPr>
              <a:t>●  </a:t>
            </a:r>
            <a:r>
              <a:rPr sz="1450" b="1">
                <a:solidFill>
                  <a:srgbClr val="08262E"/>
                </a:solidFill>
                <a:latin typeface="Calibri"/>
              </a:rPr>
              <a:t>NCBI </a:t>
            </a:r>
            <a:r>
              <a:rPr sz="1450" b="0">
                <a:solidFill>
                  <a:srgbClr val="0F2F33"/>
                </a:solidFill>
                <a:latin typeface="Calibri"/>
              </a:rPr>
              <a:t>— ncbi.nlm.nih.gov (genes y secuencias reales)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24CBE5"/>
                </a:solidFill>
                <a:latin typeface="Calibri"/>
              </a:rPr>
              <a:t>●  </a:t>
            </a:r>
            <a:r>
              <a:rPr sz="1450" b="1">
                <a:solidFill>
                  <a:srgbClr val="08262E"/>
                </a:solidFill>
                <a:latin typeface="Calibri"/>
              </a:rPr>
              <a:t>Rosalind </a:t>
            </a:r>
            <a:r>
              <a:rPr sz="1450" b="0">
                <a:solidFill>
                  <a:srgbClr val="0F2F33"/>
                </a:solidFill>
                <a:latin typeface="Calibri"/>
              </a:rPr>
              <a:t>— rosalind.info (retos de bioinformática)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777240"/>
          </a:xfrm>
          <a:prstGeom prst="roundRect">
            <a:avLst/>
          </a:prstGeom>
          <a:solidFill>
            <a:srgbClr val="08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22191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4CBE5"/>
                </a:solidFill>
                <a:latin typeface="Consolas"/>
              </a:rPr>
              <a:t>github.com/unimauro/analisis-datos-biotecnologia-python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AF3F1"/>
                </a:solidFill>
                <a:latin typeface="Calibri"/>
              </a:rPr>
              <a:t>Clona o abre el notebook directo en Google Colab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73736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¡Gracias!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24CBE5"/>
                </a:solidFill>
                <a:latin typeface="Calibri"/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291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AF3F1"/>
                </a:solidFill>
                <a:latin typeface="Calibri"/>
              </a:rPr>
              <a:t>Carlos Cárdenas Fernández  ·  Escuela Global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8D6D2"/>
                </a:solidFill>
                <a:latin typeface="Calibri"/>
              </a:rPr>
              <a:t>Análisis de Datos en Biotecnología Aplicada con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